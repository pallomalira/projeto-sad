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4" r:id="rId36"/>
    <p:sldId id="290" r:id="rId37"/>
    <p:sldId id="291" r:id="rId38"/>
    <p:sldId id="292" r:id="rId39"/>
    <p:sldId id="293" r:id="rId4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929C4B-55ED-4FE2-B808-95A28FDDB92D}">
  <a:tblStyle styleId="{73929C4B-55ED-4FE2-B808-95A28FDDB9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d82c49561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9d82c49561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c5b0c0432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c5b0c0432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c5b0c0432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3ac5b0c0432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c5b0c0432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3ac5b0c0432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c5b0c0432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3ac5b0c0432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>
          <a:extLst>
            <a:ext uri="{FF2B5EF4-FFF2-40B4-BE49-F238E27FC236}">
              <a16:creationId xmlns:a16="http://schemas.microsoft.com/office/drawing/2014/main" id="{311B1415-E4F4-006C-8CE2-AF8DF54BE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>
            <a:extLst>
              <a:ext uri="{FF2B5EF4-FFF2-40B4-BE49-F238E27FC236}">
                <a16:creationId xmlns:a16="http://schemas.microsoft.com/office/drawing/2014/main" id="{48D934D6-B120-9872-49D0-1CB7A88F03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30:notes">
            <a:extLst>
              <a:ext uri="{FF2B5EF4-FFF2-40B4-BE49-F238E27FC236}">
                <a16:creationId xmlns:a16="http://schemas.microsoft.com/office/drawing/2014/main" id="{715B3CA5-F6A3-840C-CFD7-8D399502E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39433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acquesonbenevides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pallomalira/projeto-sad" TargetMode="External"/><Relationship Id="rId5" Type="http://schemas.openxmlformats.org/officeDocument/2006/relationships/hyperlink" Target="https://app.powerbi.com/groups/me/reports/b226a94e-ea5c-4b94-9311-dd51a2738edf/d9f9e4cb02a1e0cf78ef?experience=power-bi" TargetMode="External"/><Relationship Id="rId4" Type="http://schemas.openxmlformats.org/officeDocument/2006/relationships/hyperlink" Target="https://dados.gov.br/dados/conjuntos-dados/inss-comunicacao-de-acidente-de-trabalho-cat1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3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 dirty="0"/>
              <a:t>Acidentes de Trabalho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64100" y="208287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400"/>
              <a:t>Jacqueson de Lima - </a:t>
            </a:r>
            <a:r>
              <a:rPr lang="pt-BR" sz="2400" u="sng">
                <a:solidFill>
                  <a:schemeClr val="hlink"/>
                </a:solidFill>
                <a:hlinkClick r:id="rId3"/>
              </a:rPr>
              <a:t>jacquesonbenevides@gmail.com</a:t>
            </a:r>
            <a:br>
              <a:rPr lang="pt-BR" sz="2400"/>
            </a:br>
            <a:r>
              <a:rPr lang="pt-BR" sz="2400"/>
              <a:t>Palloma de Lira - </a:t>
            </a:r>
            <a:r>
              <a:rPr lang="pt-BR" sz="2400">
                <a:solidFill>
                  <a:schemeClr val="accent5"/>
                </a:solidFill>
              </a:rPr>
              <a:t>pallomalira18@gmail.com</a:t>
            </a:r>
            <a:br>
              <a:rPr lang="pt-BR" sz="2400"/>
            </a:br>
            <a:br>
              <a:rPr lang="pt-BR" sz="2400"/>
            </a:br>
            <a:endParaRPr sz="240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464100" y="3122275"/>
            <a:ext cx="8520600" cy="20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dirty="0"/>
              <a:t>Fonte dos Dados: &lt;</a:t>
            </a:r>
            <a:r>
              <a:rPr lang="pt-BR" sz="2000" dirty="0">
                <a:hlinkClick r:id="rId4"/>
              </a:rPr>
              <a:t>https://dados.gov.br/dados/conjuntos-dados/inss-comunicacao-de-acidente-de-trabalho-cat1</a:t>
            </a:r>
            <a:r>
              <a:rPr lang="pt-BR" sz="2000" dirty="0"/>
              <a:t>&gt;</a:t>
            </a:r>
            <a:endParaRPr sz="20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 dirty="0"/>
              <a:t>Aplicação OLAP: </a:t>
            </a:r>
            <a:r>
              <a:rPr lang="pt-BR" sz="2000" dirty="0">
                <a:hlinkClick r:id="rId5"/>
              </a:rPr>
              <a:t>&lt;análise-de-acidentes-de-trabalho&gt;</a:t>
            </a:r>
            <a:endParaRPr sz="2000" dirty="0"/>
          </a:p>
          <a:p>
            <a:pPr marL="0" lvl="0" indent="0"/>
            <a:r>
              <a:rPr lang="pt-BR" sz="2000" dirty="0"/>
              <a:t>Github: &lt;</a:t>
            </a:r>
            <a:r>
              <a:rPr lang="pt-BR" sz="2000" dirty="0">
                <a:hlinkClick r:id="rId6"/>
              </a:rPr>
              <a:t>https://github.com/</a:t>
            </a:r>
            <a:r>
              <a:rPr lang="pt-BR" sz="2000" dirty="0" err="1">
                <a:hlinkClick r:id="rId6"/>
              </a:rPr>
              <a:t>pallomalira</a:t>
            </a:r>
            <a:r>
              <a:rPr lang="pt-BR" sz="2000" dirty="0">
                <a:hlinkClick r:id="rId6"/>
              </a:rPr>
              <a:t>/</a:t>
            </a:r>
            <a:r>
              <a:rPr lang="pt-BR" sz="2000" dirty="0" err="1">
                <a:hlinkClick r:id="rId6"/>
              </a:rPr>
              <a:t>projeto-sad</a:t>
            </a:r>
            <a:r>
              <a:rPr lang="pt-BR" sz="2000" dirty="0"/>
              <a:t>&gt; </a:t>
            </a:r>
            <a:r>
              <a:rPr lang="pt-BR" sz="2000" dirty="0">
                <a:solidFill>
                  <a:srgbClr val="FF0000"/>
                </a:solidFill>
              </a:rPr>
              <a:t>incluir modelos, plano de carga, apresentação, aplicação OLAP</a:t>
            </a:r>
            <a:endParaRPr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ETAPA 1 - PLANEJAMENTO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pt-BR"/>
              <a:t>Contextualização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O Data Mart tem como foco analisar dados de acidentes de trabalho ocorridos dentro e fora das empresas, especificamente relacionados aos seus funcionários. A Comunicação de Acidente de Trabalho (CAT) é o documento emitido para registrar oficialmente os acidentes e doenças relacionadas ao trabalho, sendo essencial para análise e prevenção desses casos. Esses dados são de extensão nacional e abrangem empresas de todos os estados brasileiros.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2"/>
            </a:pPr>
            <a:r>
              <a:rPr lang="pt-BR"/>
              <a:t>Escopo/objetivo do Data Mart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O objetivo do Data Mart é analisar dados da CAT (Comunicação de Acidente de Trabalho), e a partir desses dados identificar padrões ou informações importantes sobre esses acidentes registrados, como o agente causador, o local do ocorrido, a ocupação do funcionário, as consequências do acidente, o setor do trabalho, região e a data do evento. Os dados analisados abrangem todo o território nacional, contemplando empresas de todos os estados do Brasil, e referem-se ao período de julho de 2018 a julho de 2020.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3"/>
            </a:pPr>
            <a:r>
              <a:rPr lang="pt-BR"/>
              <a:t>Arquitetura Tecnológica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pic>
        <p:nvPicPr>
          <p:cNvPr id="80" name="Google Shape;80;p17" title="ChatGPT Image 1 de dez. de 2025, 12_40_56.png"/>
          <p:cNvPicPr preferRelativeResize="0"/>
          <p:nvPr/>
        </p:nvPicPr>
        <p:blipFill rotWithShape="1">
          <a:blip r:embed="rId3">
            <a:alphaModFix/>
          </a:blip>
          <a:srcRect t="13924" b="13924"/>
          <a:stretch/>
        </p:blipFill>
        <p:spPr>
          <a:xfrm>
            <a:off x="906975" y="1152475"/>
            <a:ext cx="7102625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4"/>
            </a:pPr>
            <a:r>
              <a:rPr lang="pt-BR"/>
              <a:t>Processo</a:t>
            </a: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Levantamento de requisitos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Definição das ferramentas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Coleta de dados a partir da fonte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Staging (padronização de campos) com ETL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Transformação de dados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Carga das Dimensões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Carga da Fato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Consumo OLAP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4"/>
            </a:pPr>
            <a:r>
              <a:rPr lang="pt-BR"/>
              <a:t>Abordagem</a:t>
            </a:r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A abordagem utilizada foi a Bottom-up, onde construímos os dados do Data Mart a partir de fontes já existentes. 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Nosso modelo de organização de dados foi o Star Schema, pois é mais simples e performático para nossa aplicação OLAP.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5"/>
            </a:pPr>
            <a:r>
              <a:rPr lang="pt-BR"/>
              <a:t>Usuários</a:t>
            </a:r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pt-BR"/>
              <a:t>Os usuários que utilizarão nosso Data Mart variam desde Analistas de Dados Corporativos, Gestores de Segurança de Trabalho, Gestores de RH ou Analistas de Órgãos Governamentais.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ETAPA 2 - LEVANTAMENTO DAS NECESSIDADES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6"/>
            </a:pPr>
            <a:r>
              <a:rPr lang="pt-BR"/>
              <a:t>Consultas de Apoio à Decisão 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Quantos acidentes de trabalho ocorreram entre julho/2018 e setembro/2020?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Quais são os principais agentes causadores e as partes do corpo mais atingida?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Quais são as ocupações com maior incidência de acidentes?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Quais municípios ou CNAEs apresentam o maior número de acidentes?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7"/>
            </a:pPr>
            <a:r>
              <a:rPr lang="pt-BR"/>
              <a:t>Indicadores do &lt;negócio&gt;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778000" cy="3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sp>
        <p:nvSpPr>
          <p:cNvPr id="116" name="Google Shape;116;p23"/>
          <p:cNvSpPr txBox="1"/>
          <p:nvPr/>
        </p:nvSpPr>
        <p:spPr>
          <a:xfrm>
            <a:off x="311700" y="4703625"/>
            <a:ext cx="73356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b="1"/>
              <a:t>https://smartlabbr.org/sst/localidade/0?dimensao=perfilCasosAcidentes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7" name="Google Shape;117;p23"/>
          <p:cNvGraphicFramePr/>
          <p:nvPr/>
        </p:nvGraphicFramePr>
        <p:xfrm>
          <a:off x="967344" y="1761069"/>
          <a:ext cx="7239000" cy="2116082"/>
        </p:xfrm>
        <a:graphic>
          <a:graphicData uri="http://schemas.openxmlformats.org/drawingml/2006/table">
            <a:tbl>
              <a:tblPr>
                <a:noFill/>
                <a:tableStyleId>{73929C4B-55ED-4FE2-B808-95A28FDDB92D}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/>
                        <a:t>Indicador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/>
                        <a:t>Descrição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</a:rPr>
                        <a:t>Número total de acidentes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</a:rPr>
                        <a:t>Serve para a contagem simples de todas as CATs registradas no período.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125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</a:rPr>
                        <a:t>Taxa de óbitos por acidentes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</a:rPr>
                        <a:t>Serve para obter um percentual de óbitos causados pelo acidente.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</a:rPr>
                        <a:t>Taxa de acidentes por gênero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pt-BR" sz="1200"/>
                        <a:t>Serve para obter o percentual de acidentes de trabalho causados com um gênero específico.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ETAPA 3 - MODELAGEM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9"/>
            </a:pPr>
            <a:r>
              <a:rPr lang="pt-BR"/>
              <a:t>Modelo Relacional</a:t>
            </a:r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/>
              <a:t>O modelo relacional, foi elaborado a partir dos dados disponibilizados na base da Comunicação de Acidente de Trabalho(CAT), buscando representar as principais entidades e atributos relacionados ao negócio. Foram identificados 4 entidades: </a:t>
            </a:r>
            <a:endParaRPr sz="14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sp>
        <p:nvSpPr>
          <p:cNvPr id="129" name="Google Shape;129;p25"/>
          <p:cNvSpPr txBox="1"/>
          <p:nvPr/>
        </p:nvSpPr>
        <p:spPr>
          <a:xfrm>
            <a:off x="311700" y="4703625"/>
            <a:ext cx="85206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1"/>
              <a:t>https://docs.google.com/spreadsheets/d/1FSKhnJFhn_h1wtAMrRsR8_1Xp-zRFcUSq4UfI_KOvdo/edit?usp=sharing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0" name="Google Shape;130;p25"/>
          <p:cNvGraphicFramePr/>
          <p:nvPr/>
        </p:nvGraphicFramePr>
        <p:xfrm>
          <a:off x="429900" y="2082563"/>
          <a:ext cx="8027475" cy="2621130"/>
        </p:xfrm>
        <a:graphic>
          <a:graphicData uri="http://schemas.openxmlformats.org/drawingml/2006/table">
            <a:tbl>
              <a:tblPr>
                <a:noFill/>
                <a:tableStyleId>{73929C4B-55ED-4FE2-B808-95A28FDDB92D}</a:tableStyleId>
              </a:tblPr>
              <a:tblGrid>
                <a:gridCol w="274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/>
                        <a:t>Entidades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/>
                        <a:t>Atributos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Empregado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ID do empregado, sexo, CBO (função), filiação segurado, parte do corpo Ating.,Especie de Benefício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Empresa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ID da empresa, CNAE2.0 (codigo), CNAE2.0(categoria), emitente CAT, local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Acidente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ID do acidente, agente causador, Natureza da lesão, Indicação de óbito, tipo de acidente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Tempo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ID do tempo, data, dia, mês, ano, trimestre e semestre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</a:t>
            </a:r>
            <a:endParaRPr/>
          </a:p>
        </p:txBody>
      </p:sp>
      <p:graphicFrame>
        <p:nvGraphicFramePr>
          <p:cNvPr id="136" name="Google Shape;136;p26"/>
          <p:cNvGraphicFramePr/>
          <p:nvPr/>
        </p:nvGraphicFramePr>
        <p:xfrm>
          <a:off x="952500" y="1576475"/>
          <a:ext cx="7239000" cy="2072580"/>
        </p:xfrm>
        <a:graphic>
          <a:graphicData uri="http://schemas.openxmlformats.org/drawingml/2006/table">
            <a:tbl>
              <a:tblPr>
                <a:noFill/>
                <a:tableStyleId>{73929C4B-55ED-4FE2-B808-95A28FDDB92D}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/>
                        <a:t>Área de Negócio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/>
                        <a:t>Processo do Negócio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/>
                        <a:t>Granularidade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Acidente de Trabalho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Análise dos acidentes de trabalho, considerando informações sobre o  empregado, a empresa, o tipo do acidente, o agente causador, a região e o período do ocorrido.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Empregado -&gt; empresa -&gt; tipo do acidente -&gt; data -&gt; local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</a:t>
            </a:r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t-BR" sz="1400" b="1"/>
              <a:t>Hierarquia das Dimensões</a:t>
            </a:r>
            <a:endParaRPr sz="1400" b="1"/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pt-BR" sz="1400" b="1"/>
              <a:t>dim_tempo =</a:t>
            </a:r>
            <a:endParaRPr sz="1400" b="1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b="1"/>
              <a:t>ano -&gt; semestre -&gt;trimestre -&gt;  mês -&gt; dia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 b="1"/>
              <a:t>dim_empresa =</a:t>
            </a:r>
            <a:endParaRPr sz="1400" b="1"/>
          </a:p>
          <a:p>
            <a:pPr marL="13716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 b="1"/>
              <a:t> estado -&gt; município -&gt; empresa</a:t>
            </a:r>
            <a:endParaRPr sz="1400"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 b="1"/>
              <a:t>dim_empregado = </a:t>
            </a:r>
            <a:endParaRPr sz="1400" b="1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b="1"/>
              <a:t>sexo, CBO(Função), filiação segurado, parte do corpo atingida, especie de benefício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 b="1"/>
              <a:t>dim_acidente = </a:t>
            </a:r>
            <a:endParaRPr sz="1400" b="1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b="1"/>
              <a:t>agente causador, Natureza da lesão, indicação de óbito, tipo de acidente</a:t>
            </a:r>
            <a:endParaRPr b="1"/>
          </a:p>
          <a:p>
            <a:pPr marL="9144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 b="1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</a:t>
            </a:r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t-BR"/>
              <a:t>Métricas da fato</a:t>
            </a:r>
            <a:endParaRPr/>
          </a:p>
          <a:p>
            <a:pPr marL="457200" lvl="0" indent="-34290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Registro de Ocorrência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</a:t>
            </a:r>
            <a:endParaRPr/>
          </a:p>
        </p:txBody>
      </p:sp>
      <p:pic>
        <p:nvPicPr>
          <p:cNvPr id="154" name="Google Shape;154;p29" title="Classe UM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625" y="1057275"/>
            <a:ext cx="5810251" cy="377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</a:t>
            </a:r>
            <a:endParaRPr/>
          </a:p>
        </p:txBody>
      </p:sp>
      <p:graphicFrame>
        <p:nvGraphicFramePr>
          <p:cNvPr id="160" name="Google Shape;160;p30"/>
          <p:cNvGraphicFramePr/>
          <p:nvPr/>
        </p:nvGraphicFramePr>
        <p:xfrm>
          <a:off x="877800" y="1180325"/>
          <a:ext cx="7388400" cy="3618175"/>
        </p:xfrm>
        <a:graphic>
          <a:graphicData uri="http://schemas.openxmlformats.org/drawingml/2006/table">
            <a:tbl>
              <a:tblPr>
                <a:noFill/>
                <a:tableStyleId>{73929C4B-55ED-4FE2-B808-95A28FDDB92D}</a:tableStyleId>
              </a:tblPr>
              <a:tblGrid>
                <a:gridCol w="82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1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7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PK_Tempo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PK_Acidente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PK_Empregado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PK_Empresa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Reg. de Ocorrência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D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501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102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1002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501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1003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502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4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103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501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4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1004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503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6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1005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502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7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6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105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1006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501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8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7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102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1007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503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8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106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1008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504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107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1009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505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0"/>
            </a:pPr>
            <a:r>
              <a:rPr lang="pt-BR"/>
              <a:t>Modelo Dimensional do Data Mart (lógico)</a:t>
            </a:r>
            <a:endParaRPr/>
          </a:p>
        </p:txBody>
      </p:sp>
      <p:sp>
        <p:nvSpPr>
          <p:cNvPr id="166" name="Google Shape;166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/>
              <a:t>Tabela Fato:</a:t>
            </a:r>
            <a:endParaRPr sz="1400" b="1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</a:rPr>
              <a:t>A Tabela Fato contém cerca de 990.870 registros, cada um composto por 5 colunas de 4 bytes, totalizando 20 bytes por linha (5 × 4). Multiplicando esse valor pela quantidade total de registros, obtém-se 19.817.400 bytes, equivalentes a 19,82 MB.</a:t>
            </a: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400">
                <a:solidFill>
                  <a:schemeClr val="dk1"/>
                </a:solidFill>
              </a:rPr>
              <a:t>Considerando que as dimensões ocupam aproximadamente 25% do tamanho da Tabela Fato (4,955 MB), o tamanho total estimado do Data Mart é de 24,78 MB, somando fatos e dimensões.</a:t>
            </a:r>
            <a:endParaRPr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ETAPA 4 - PROJETO FÍSICO DO BD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1"/>
            </a:pPr>
            <a:r>
              <a:rPr lang="pt-BR"/>
              <a:t>Modelo Relacional do Data Mart (físico)</a:t>
            </a:r>
            <a:endParaRPr/>
          </a:p>
        </p:txBody>
      </p:sp>
      <p:sp>
        <p:nvSpPr>
          <p:cNvPr id="177" name="Google Shape;177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pic>
        <p:nvPicPr>
          <p:cNvPr id="178" name="Google Shape;178;p33" title="Captura de tela 2025-12-01 0143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300" y="1152475"/>
            <a:ext cx="6700275" cy="37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1"/>
            </a:pPr>
            <a:r>
              <a:rPr lang="pt-BR"/>
              <a:t>Modelo Relacional do Data Mart (físico)</a:t>
            </a:r>
            <a:endParaRPr/>
          </a:p>
        </p:txBody>
      </p:sp>
      <p:sp>
        <p:nvSpPr>
          <p:cNvPr id="184" name="Google Shape;184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pic>
        <p:nvPicPr>
          <p:cNvPr id="185" name="Google Shape;185;p34" title="Captura de tela 2025-12-01 014206.png"/>
          <p:cNvPicPr preferRelativeResize="0"/>
          <p:nvPr/>
        </p:nvPicPr>
        <p:blipFill rotWithShape="1">
          <a:blip r:embed="rId3">
            <a:alphaModFix/>
          </a:blip>
          <a:srcRect t="-3629" b="3629"/>
          <a:stretch/>
        </p:blipFill>
        <p:spPr>
          <a:xfrm>
            <a:off x="4253175" y="1916650"/>
            <a:ext cx="4618775" cy="161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4" title="Captura de tela 2025-12-01 134937.png"/>
          <p:cNvPicPr preferRelativeResize="0"/>
          <p:nvPr/>
        </p:nvPicPr>
        <p:blipFill rotWithShape="1">
          <a:blip r:embed="rId4">
            <a:alphaModFix/>
          </a:blip>
          <a:srcRect l="970" r="980"/>
          <a:stretch/>
        </p:blipFill>
        <p:spPr>
          <a:xfrm>
            <a:off x="440175" y="1961375"/>
            <a:ext cx="3773350" cy="16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1"/>
            </a:pPr>
            <a:r>
              <a:rPr lang="pt-BR"/>
              <a:t>Modelo Relacional do Data Mart (físico)</a:t>
            </a:r>
            <a:endParaRPr/>
          </a:p>
        </p:txBody>
      </p:sp>
      <p:sp>
        <p:nvSpPr>
          <p:cNvPr id="192" name="Google Shape;192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pic>
        <p:nvPicPr>
          <p:cNvPr id="193" name="Google Shape;193;p35" title="Captura de tela 2025-12-01 0142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525" y="1494725"/>
            <a:ext cx="7460899" cy="32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1"/>
            </a:pPr>
            <a:r>
              <a:rPr lang="pt-BR"/>
              <a:t>Modelo Relacional do Data Mart (físico)</a:t>
            </a:r>
            <a:endParaRPr/>
          </a:p>
        </p:txBody>
      </p:sp>
      <p:sp>
        <p:nvSpPr>
          <p:cNvPr id="199" name="Google Shape;199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pic>
        <p:nvPicPr>
          <p:cNvPr id="200" name="Google Shape;200;p36" title="Captura de tela 2025-12-01 014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3804" y="1211950"/>
            <a:ext cx="5816383" cy="358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>
            <a:spLocks noGrp="1"/>
          </p:cNvSpPr>
          <p:nvPr>
            <p:ph type="title"/>
          </p:nvPr>
        </p:nvSpPr>
        <p:spPr>
          <a:xfrm>
            <a:off x="311700" y="1702550"/>
            <a:ext cx="8520600" cy="12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ETAPA 5 - EXTRAÇÃO, TRANSFORMAÇÃO E CARGA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2"/>
            </a:pPr>
            <a:r>
              <a:rPr lang="pt-BR"/>
              <a:t>Plano de Carga da Dimensão Tempo</a:t>
            </a:r>
            <a:endParaRPr/>
          </a:p>
        </p:txBody>
      </p:sp>
      <p:sp>
        <p:nvSpPr>
          <p:cNvPr id="211" name="Google Shape;211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pic>
        <p:nvPicPr>
          <p:cNvPr id="212" name="Google Shape;212;p38" title="Captura de tela 2025-12-01 1309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975" y="2063650"/>
            <a:ext cx="7382350" cy="117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3"/>
            </a:pPr>
            <a:r>
              <a:rPr lang="pt-BR"/>
              <a:t>Plano de Carga da Dimensão Empresa</a:t>
            </a:r>
            <a:endParaRPr/>
          </a:p>
        </p:txBody>
      </p:sp>
      <p:sp>
        <p:nvSpPr>
          <p:cNvPr id="218" name="Google Shape;218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pic>
        <p:nvPicPr>
          <p:cNvPr id="219" name="Google Shape;2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700" y="1521250"/>
            <a:ext cx="8900601" cy="210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4"/>
            </a:pPr>
            <a:r>
              <a:rPr lang="pt-BR"/>
              <a:t>Plano de Carga da Dimensão Empregado</a:t>
            </a:r>
            <a:endParaRPr/>
          </a:p>
        </p:txBody>
      </p:sp>
      <p:sp>
        <p:nvSpPr>
          <p:cNvPr id="225" name="Google Shape;225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pic>
        <p:nvPicPr>
          <p:cNvPr id="226" name="Google Shape;22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875" y="1620263"/>
            <a:ext cx="8786251" cy="190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4"/>
            </a:pPr>
            <a:r>
              <a:rPr lang="pt-BR"/>
              <a:t>Plano de Carga da Dimensão Acidente</a:t>
            </a:r>
            <a:endParaRPr/>
          </a:p>
        </p:txBody>
      </p:sp>
      <p:sp>
        <p:nvSpPr>
          <p:cNvPr id="232" name="Google Shape;232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pic>
        <p:nvPicPr>
          <p:cNvPr id="233" name="Google Shape;23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13" y="1546462"/>
            <a:ext cx="9050175" cy="205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5"/>
            </a:pPr>
            <a:r>
              <a:rPr lang="pt-BR"/>
              <a:t>Plano de Carga da Fato</a:t>
            </a:r>
            <a:endParaRPr/>
          </a:p>
        </p:txBody>
      </p:sp>
      <p:sp>
        <p:nvSpPr>
          <p:cNvPr id="239" name="Google Shape;239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EC9F52-01FC-CDF6-C3A7-0DB04165D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2" y="1192280"/>
            <a:ext cx="8978995" cy="27589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>
            <a:spLocks noGrp="1"/>
          </p:cNvSpPr>
          <p:nvPr>
            <p:ph type="title"/>
          </p:nvPr>
        </p:nvSpPr>
        <p:spPr>
          <a:xfrm>
            <a:off x="311700" y="1702550"/>
            <a:ext cx="8520600" cy="12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ETAPA 6 - APLICAÇÃO OLAP e PAINEL DE BORDO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6"/>
            </a:pPr>
            <a:r>
              <a:rPr lang="pt-BR"/>
              <a:t>Consulta OLAP 1</a:t>
            </a:r>
            <a:endParaRPr/>
          </a:p>
        </p:txBody>
      </p:sp>
      <p:sp>
        <p:nvSpPr>
          <p:cNvPr id="251" name="Google Shape;251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1820AFB-1DC8-6ADD-D070-D41702C90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198" y="966845"/>
            <a:ext cx="7109604" cy="397638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6"/>
            </a:pPr>
            <a:r>
              <a:rPr lang="pt-BR"/>
              <a:t>Consulta OLAP 2</a:t>
            </a:r>
            <a:endParaRPr/>
          </a:p>
        </p:txBody>
      </p:sp>
      <p:sp>
        <p:nvSpPr>
          <p:cNvPr id="257" name="Google Shape;257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6816806-E473-C60B-252D-DBA144557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62" y="1017725"/>
            <a:ext cx="7322075" cy="396033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6"/>
            </a:pPr>
            <a:r>
              <a:rPr lang="pt-BR"/>
              <a:t>Consulta OLAP 3</a:t>
            </a:r>
            <a:endParaRPr/>
          </a:p>
        </p:txBody>
      </p:sp>
      <p:sp>
        <p:nvSpPr>
          <p:cNvPr id="263" name="Google Shape;263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2D670DD-9BD4-DF26-0713-EA02FD5ED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85" y="996043"/>
            <a:ext cx="7445829" cy="414745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>
          <a:extLst>
            <a:ext uri="{FF2B5EF4-FFF2-40B4-BE49-F238E27FC236}">
              <a16:creationId xmlns:a16="http://schemas.microsoft.com/office/drawing/2014/main" id="{7636954F-A5BE-D996-A231-C37769CD4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>
            <a:extLst>
              <a:ext uri="{FF2B5EF4-FFF2-40B4-BE49-F238E27FC236}">
                <a16:creationId xmlns:a16="http://schemas.microsoft.com/office/drawing/2014/main" id="{716DF8CD-A2FF-8E68-EA3B-8A3B6AF2EA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6"/>
            </a:pPr>
            <a:r>
              <a:rPr lang="pt-BR" dirty="0"/>
              <a:t>Consulta OLAP 4</a:t>
            </a:r>
            <a:endParaRPr dirty="0"/>
          </a:p>
        </p:txBody>
      </p:sp>
      <p:sp>
        <p:nvSpPr>
          <p:cNvPr id="263" name="Google Shape;263;p46">
            <a:extLst>
              <a:ext uri="{FF2B5EF4-FFF2-40B4-BE49-F238E27FC236}">
                <a16:creationId xmlns:a16="http://schemas.microsoft.com/office/drawing/2014/main" id="{A97765C6-77C6-1E58-AD05-78527666C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D54B21A-60DD-D7F4-1792-4CFDA6C8F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28" y="951498"/>
            <a:ext cx="7460343" cy="419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6011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 startAt="16"/>
            </a:pPr>
            <a:r>
              <a:rPr lang="pt-BR" dirty="0"/>
              <a:t>Painel de Bordo Acidente de Trabalho</a:t>
            </a:r>
            <a:endParaRPr dirty="0"/>
          </a:p>
        </p:txBody>
      </p:sp>
      <p:sp>
        <p:nvSpPr>
          <p:cNvPr id="269" name="Google Shape;269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D8175A-B5C5-FB37-DAFE-77AD090EF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164" y="1017725"/>
            <a:ext cx="7129672" cy="395631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75" name="Google Shape;275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Dados fontes (abertos)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Anexos</a:t>
            </a:r>
            <a:endParaRPr/>
          </a:p>
        </p:txBody>
      </p:sp>
      <p:sp>
        <p:nvSpPr>
          <p:cNvPr id="281" name="Google Shape;281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Apêndices</a:t>
            </a:r>
            <a:endParaRPr/>
          </a:p>
        </p:txBody>
      </p:sp>
      <p:sp>
        <p:nvSpPr>
          <p:cNvPr id="287" name="Google Shape;287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1052</Words>
  <Application>Microsoft Office PowerPoint</Application>
  <PresentationFormat>Apresentação na tela (16:9)</PresentationFormat>
  <Paragraphs>172</Paragraphs>
  <Slides>39</Slides>
  <Notes>39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1" baseType="lpstr">
      <vt:lpstr>Arial</vt:lpstr>
      <vt:lpstr>Simple Light</vt:lpstr>
      <vt:lpstr>Acidentes de Trabalho</vt:lpstr>
      <vt:lpstr>ETAPA 1 - PLANEJAMENTO</vt:lpstr>
      <vt:lpstr>Contextualização</vt:lpstr>
      <vt:lpstr>Escopo/objetivo do Data Mart</vt:lpstr>
      <vt:lpstr>Arquitetura Tecnológica</vt:lpstr>
      <vt:lpstr>Processo</vt:lpstr>
      <vt:lpstr>Abordagem</vt:lpstr>
      <vt:lpstr>Usuários</vt:lpstr>
      <vt:lpstr>ETAPA 2 - LEVANTAMENTO DAS NECESSIDADES</vt:lpstr>
      <vt:lpstr>Consultas de Apoio à Decisão  </vt:lpstr>
      <vt:lpstr>Indicadores do &lt;negócio&gt; </vt:lpstr>
      <vt:lpstr>ETAPA 3 - MODELAGEM</vt:lpstr>
      <vt:lpstr>Modelo Relacional</vt:lpstr>
      <vt:lpstr>Modelo Dimensional</vt:lpstr>
      <vt:lpstr>Modelo Dimensional</vt:lpstr>
      <vt:lpstr>Modelo Dimensional</vt:lpstr>
      <vt:lpstr>Modelo Dimensional</vt:lpstr>
      <vt:lpstr>Modelo Dimensional</vt:lpstr>
      <vt:lpstr>Modelo Dimensional do Data Mart (lógico)</vt:lpstr>
      <vt:lpstr>ETAPA 4 - PROJETO FÍSICO DO BD</vt:lpstr>
      <vt:lpstr>Modelo Relacional do Data Mart (físico)</vt:lpstr>
      <vt:lpstr>Modelo Relacional do Data Mart (físico)</vt:lpstr>
      <vt:lpstr>Modelo Relacional do Data Mart (físico)</vt:lpstr>
      <vt:lpstr>Modelo Relacional do Data Mart (físico)</vt:lpstr>
      <vt:lpstr>ETAPA 5 - EXTRAÇÃO, TRANSFORMAÇÃO E CARGA</vt:lpstr>
      <vt:lpstr>Plano de Carga da Dimensão Tempo</vt:lpstr>
      <vt:lpstr>Plano de Carga da Dimensão Empresa</vt:lpstr>
      <vt:lpstr>Plano de Carga da Dimensão Empregado</vt:lpstr>
      <vt:lpstr>Plano de Carga da Dimensão Acidente</vt:lpstr>
      <vt:lpstr>Plano de Carga da Fato</vt:lpstr>
      <vt:lpstr>ETAPA 6 - APLICAÇÃO OLAP e PAINEL DE BORDO</vt:lpstr>
      <vt:lpstr>Consulta OLAP 1</vt:lpstr>
      <vt:lpstr>Consulta OLAP 2</vt:lpstr>
      <vt:lpstr>Consulta OLAP 3</vt:lpstr>
      <vt:lpstr>Consulta OLAP 4</vt:lpstr>
      <vt:lpstr>Painel de Bordo Acidente de Trabalho</vt:lpstr>
      <vt:lpstr>Referências</vt:lpstr>
      <vt:lpstr>Anexos</vt:lpstr>
      <vt:lpstr>Apêndices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Palloma</dc:creator>
  <cp:lastModifiedBy>Palloma pah</cp:lastModifiedBy>
  <cp:revision>2</cp:revision>
  <dcterms:modified xsi:type="dcterms:W3CDTF">2025-12-12T00:52:45Z</dcterms:modified>
</cp:coreProperties>
</file>